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8EC28D-4C8C-FDC1-D115-F7AE2E236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99C1E7F-B743-E4B4-2255-70AC11030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A81286-6D4C-3577-FE3A-812C052A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5D3D46-D007-046E-6855-E3AA9EF7B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E3E49E-FFE7-0BE4-9FE8-7082CAF13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2516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0EEB92-BB64-E7D2-77E1-87AC0723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69B157-A749-85C7-F478-433C449AA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56DBAD-A300-1633-0588-13917E6E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F2264E-3680-7452-B62D-4C48764E0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A14E1D-B45D-E211-04C9-C978FAC79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191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DC1211-1673-D1AC-6DEF-48F276E26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0AFB3B-8217-0244-CF5E-B75E2FFE5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80942E-7FCC-FDB9-6F74-63F64C60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3FE9ED-DBB9-EEF1-A82F-1AAAC5CD1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1A6E9B-03EB-72E1-0F5F-5908FC2D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483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44AD4-DE29-5901-310C-79878722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0CD87C-EF41-D588-F7E3-6D55319BA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ED12FC0-A33F-7D0D-D033-767367F41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8CDD52-F8A1-5002-AE6D-9B1010C0E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9560BCA-9741-F04F-2148-6F4BA7E5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B90C6C-7166-248B-C357-E39B0DA7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331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C72082-DF8B-263F-0F4D-00F19072D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D89179-04B0-E385-D932-BB0B5D225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27E84F-12A1-45E8-5377-2DB7473D1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C334FE-9592-132F-914E-253775408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86C41F1-6CEC-D258-5995-616CF640CD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D01F58B-A383-97EE-D133-8B980EDC6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77AEB0-6C89-21CB-50E3-133176D16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FD44D9A-37CC-CC9B-27E7-1358C79E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85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EF45BE-E1BF-FD34-D9E3-A9157763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AED98EA-41A0-240D-4949-8913D8CF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6E99350-6916-7F63-25A8-22DD65887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41DCFD-1E81-3B8E-4DF1-5680BFC75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6468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376E2B1-D8C3-5B3C-FB7A-D27485E0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51BC561-0B93-A445-E35D-794D43DB3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EC37F5-9D50-264E-5559-1C4E8E8F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6021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C96F5F-9932-0A31-EBDA-B2E1C181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502E786-5E86-6E7D-2A06-F2FD9C378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4381EC-14CA-5258-B30E-0E4C1F760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8B42390-DE28-8567-DB77-2CBA5F46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AD8E32-C6F3-D6AA-C946-4F6EA4186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D4AB27-7225-88A7-50A0-6BE323B2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97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704E73-0BF6-69EB-2596-AD0CAFF23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66D878A-A66C-3185-8073-871A58EE4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98D21AE-AC44-EFFC-1F2C-95936C5DA4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05828C-5EE4-8090-F309-4D65EEA72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B44F4-617F-2F25-1587-5FC964F6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C713023-C4F3-3EFA-AD97-C018FF85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3802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72E150-AAEE-2F73-E7A1-24E371042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471DB37-C372-1F2E-A3B3-77E4CEFB0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B1210E-6F21-8296-90AF-07A8EF3FF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402AAB-45E9-F9FD-CCBE-42EC3328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CCDA08-908F-B388-F91F-34063E1F1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1441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45E8B65-898B-AFCA-CE27-0E15699AE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891177-286A-CF50-2610-A1AC1C5207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A8DD5C-AE56-4F32-D4A5-770C0857E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3D2885-3B29-0EE4-2113-5918800B7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18A7F2-D9D2-7A73-6EDC-68B38302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887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8D8C167-E8AE-6121-F43E-2D4DA8B46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6B96993-6F03-D68F-FCFE-D53D12943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0644BA-54F7-761E-7F6C-9E2BBDD90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06A14-F75D-47DB-BE67-A9828023C09A}" type="datetimeFigureOut">
              <a:rPr lang="fr-FR" smtClean="0"/>
              <a:t>11/12/2025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69ECA8-97CF-B2E1-3C57-368A2FA68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A1D12F-6B2C-3638-DBA6-246396C01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04259-96BD-4AC4-884B-26FFE8BBD8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14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6AA51A-F34D-EA5B-65D4-DE8B400E74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Bloc 4 : Deep Learning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F1AA1F4-832C-17F4-49E2-436BD73B3329}"/>
              </a:ext>
            </a:extLst>
          </p:cNvPr>
          <p:cNvSpPr txBox="1"/>
          <p:nvPr/>
        </p:nvSpPr>
        <p:spPr>
          <a:xfrm>
            <a:off x="100584" y="0"/>
            <a:ext cx="6263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Jedha</a:t>
            </a:r>
            <a:r>
              <a:rPr lang="fr-FR" dirty="0"/>
              <a:t> </a:t>
            </a:r>
            <a:r>
              <a:rPr lang="fr-FR" dirty="0" err="1"/>
              <a:t>Bootcamp</a:t>
            </a:r>
            <a:r>
              <a:rPr lang="fr-FR" dirty="0"/>
              <a:t> : CDSD certification</a:t>
            </a:r>
          </a:p>
        </p:txBody>
      </p:sp>
    </p:spTree>
    <p:extLst>
      <p:ext uri="{BB962C8B-B14F-4D97-AF65-F5344CB8AC3E}">
        <p14:creationId xmlns:p14="http://schemas.microsoft.com/office/powerpoint/2010/main" val="3713992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7D1DA0-ADC6-9984-F55D-2B72AFFA7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784B54-9369-1B37-4EDF-0B3AF8F29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1825625"/>
            <a:ext cx="11729883" cy="4351338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Deep Learning : AT&amp;T Spam Detector</a:t>
            </a:r>
          </a:p>
          <a:p>
            <a:pPr marL="0" indent="0">
              <a:buNone/>
            </a:pPr>
            <a:r>
              <a:rPr lang="fr-FR" dirty="0"/>
              <a:t>	-Créer un modèle de Deep Learning permettant de détecter 	les 	spams dans les SMS, et le comparer avec un modèle pré-entrainé</a:t>
            </a:r>
          </a:p>
          <a:p>
            <a:pPr marL="0" indent="0">
              <a:buNone/>
            </a:pPr>
            <a:r>
              <a:rPr lang="fr-FR" dirty="0"/>
              <a:t>	-Problématique :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913744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459713-C615-9174-D9DF-DAAF79485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754761"/>
          </a:xfrm>
        </p:spPr>
        <p:txBody>
          <a:bodyPr>
            <a:normAutofit/>
          </a:bodyPr>
          <a:lstStyle/>
          <a:p>
            <a:r>
              <a:rPr lang="fr-FR" dirty="0"/>
              <a:t>Déroulement du projet :</a:t>
            </a:r>
          </a:p>
          <a:p>
            <a:pPr lvl="1"/>
            <a:r>
              <a:rPr lang="fr-FR" dirty="0" err="1"/>
              <a:t>Preprocessing</a:t>
            </a:r>
            <a:r>
              <a:rPr lang="fr-FR" dirty="0"/>
              <a:t> du jeu de données (5575 lignes, 5 colonnes)</a:t>
            </a:r>
          </a:p>
          <a:p>
            <a:pPr lvl="2"/>
            <a:r>
              <a:rPr lang="fr-FR" dirty="0"/>
              <a:t>On concatène les 4 dernières colonnes en une seule, puisqu’il s’agit du même corps de texte. Il nous reste donc 2 colonnes contenant le corps du message et son identification en tant que spam ou vrai message.</a:t>
            </a:r>
          </a:p>
          <a:p>
            <a:pPr lvl="2"/>
            <a:r>
              <a:rPr lang="fr-FR" dirty="0"/>
              <a:t>On crée enfin une dernière colonne qui identifie le message comme spam ou non, sous forme de 1 ou de 0.</a:t>
            </a:r>
          </a:p>
          <a:p>
            <a:pPr lvl="1"/>
            <a:r>
              <a:rPr lang="fr-FR" dirty="0"/>
              <a:t>Encodage des messages sous forme de listes de </a:t>
            </a:r>
            <a:r>
              <a:rPr lang="fr-FR" dirty="0" err="1"/>
              <a:t>tokens</a:t>
            </a:r>
            <a:endParaRPr lang="fr-FR" dirty="0"/>
          </a:p>
          <a:p>
            <a:pPr lvl="2"/>
            <a:r>
              <a:rPr lang="fr-FR" dirty="0"/>
              <a:t>On définit un nombre de </a:t>
            </a:r>
            <a:r>
              <a:rPr lang="fr-FR" dirty="0" err="1"/>
              <a:t>tokens</a:t>
            </a:r>
            <a:r>
              <a:rPr lang="fr-FR" dirty="0"/>
              <a:t> maximum pour l’encodage afin que le modèle soit uniforme.</a:t>
            </a:r>
          </a:p>
          <a:p>
            <a:pPr lvl="1"/>
            <a:r>
              <a:rPr lang="fr-FR" dirty="0"/>
              <a:t>Entrainement du modèle</a:t>
            </a:r>
          </a:p>
          <a:p>
            <a:pPr lvl="2"/>
            <a:r>
              <a:rPr lang="fr-FR" dirty="0"/>
              <a:t>On sépare notre jeu de données en </a:t>
            </a:r>
            <a:r>
              <a:rPr lang="fr-FR" dirty="0" err="1"/>
              <a:t>dataset</a:t>
            </a:r>
            <a:r>
              <a:rPr lang="fr-FR" dirty="0"/>
              <a:t> d’entrainement et de validation.</a:t>
            </a:r>
          </a:p>
          <a:p>
            <a:pPr lvl="2"/>
            <a:r>
              <a:rPr lang="fr-FR" dirty="0"/>
              <a:t>On lance l’entrainement avec un réseau de </a:t>
            </a:r>
            <a:r>
              <a:rPr lang="fr-FR" dirty="0" err="1"/>
              <a:t>neuronnes</a:t>
            </a:r>
            <a:r>
              <a:rPr lang="fr-FR" dirty="0"/>
              <a:t>.</a:t>
            </a:r>
          </a:p>
          <a:p>
            <a:pPr lvl="2"/>
            <a:r>
              <a:rPr lang="fr-FR" dirty="0"/>
              <a:t>On sauvegarde le modèle et on réalise une matrice de confusion afin d’analyser les résultats.</a:t>
            </a:r>
          </a:p>
          <a:p>
            <a:pPr lvl="1"/>
            <a:r>
              <a:rPr lang="fr-FR" dirty="0"/>
              <a:t>Import d’un modèle pré-entrainé (Transfer-</a:t>
            </a:r>
            <a:r>
              <a:rPr lang="fr-FR" dirty="0" err="1"/>
              <a:t>learning</a:t>
            </a:r>
            <a:r>
              <a:rPr lang="fr-FR" dirty="0"/>
              <a:t>)</a:t>
            </a:r>
          </a:p>
          <a:p>
            <a:pPr lvl="2"/>
            <a:r>
              <a:rPr lang="fr-FR" dirty="0"/>
              <a:t>On récupère sur </a:t>
            </a:r>
            <a:r>
              <a:rPr lang="fr-FR" dirty="0" err="1"/>
              <a:t>Huggingface</a:t>
            </a:r>
            <a:r>
              <a:rPr lang="fr-FR" dirty="0"/>
              <a:t> un modèle spécifiquement entrainé pour la détection de spams</a:t>
            </a:r>
          </a:p>
          <a:p>
            <a:pPr lvl="2"/>
            <a:r>
              <a:rPr lang="fr-FR" dirty="0"/>
              <a:t>On exploite le modèle sur notre jeu de données.</a:t>
            </a:r>
          </a:p>
          <a:p>
            <a:pPr lvl="2"/>
            <a:r>
              <a:rPr lang="fr-FR" dirty="0"/>
              <a:t>On compare les résultats avec notre modèle maison.</a:t>
            </a:r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7193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079936-3DEF-CCE0-89D5-59BF1B31A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490"/>
            <a:ext cx="10515600" cy="6088473"/>
          </a:xfrm>
        </p:spPr>
        <p:txBody>
          <a:bodyPr/>
          <a:lstStyle/>
          <a:p>
            <a:r>
              <a:rPr lang="fr-FR" dirty="0"/>
              <a:t>Deep Learning : réalisation de 2 modèles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0B28727-63CB-6A12-58EF-2477A44FE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3878"/>
            <a:ext cx="12192000" cy="296056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77C1CA5-6859-9E51-E0B9-2DDDE3716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96" y="3587716"/>
            <a:ext cx="3820058" cy="318179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ABA4302-CDCA-DA2F-0BCE-FB283C528751}"/>
              </a:ext>
            </a:extLst>
          </p:cNvPr>
          <p:cNvSpPr txBox="1"/>
          <p:nvPr/>
        </p:nvSpPr>
        <p:spPr>
          <a:xfrm rot="16200000">
            <a:off x="935140" y="5405815"/>
            <a:ext cx="882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Spam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6DAE834-8A8A-549B-3744-DB898E0731CF}"/>
              </a:ext>
            </a:extLst>
          </p:cNvPr>
          <p:cNvSpPr txBox="1"/>
          <p:nvPr/>
        </p:nvSpPr>
        <p:spPr>
          <a:xfrm>
            <a:off x="3067455" y="6323194"/>
            <a:ext cx="882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Spam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95B3D0D-CC43-6446-77A5-17193D46D15A}"/>
              </a:ext>
            </a:extLst>
          </p:cNvPr>
          <p:cNvSpPr txBox="1"/>
          <p:nvPr/>
        </p:nvSpPr>
        <p:spPr>
          <a:xfrm>
            <a:off x="1805902" y="6323194"/>
            <a:ext cx="67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Ham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1644175-C10E-875B-6B7C-F3F5831E82C6}"/>
              </a:ext>
            </a:extLst>
          </p:cNvPr>
          <p:cNvSpPr txBox="1"/>
          <p:nvPr/>
        </p:nvSpPr>
        <p:spPr>
          <a:xfrm rot="16200000">
            <a:off x="1037305" y="4277980"/>
            <a:ext cx="67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Ham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DED83A5-AE0D-7746-9292-F0AC2DF17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564" y="3630028"/>
            <a:ext cx="3829584" cy="313416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5C6682F2-366A-7995-AA68-80CA28DF6CB3}"/>
              </a:ext>
            </a:extLst>
          </p:cNvPr>
          <p:cNvSpPr txBox="1"/>
          <p:nvPr/>
        </p:nvSpPr>
        <p:spPr>
          <a:xfrm>
            <a:off x="1376517" y="3429000"/>
            <a:ext cx="2890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Entrainement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8AB4D80-562F-CD6F-5226-7892E5EFB914}"/>
              </a:ext>
            </a:extLst>
          </p:cNvPr>
          <p:cNvSpPr txBox="1"/>
          <p:nvPr/>
        </p:nvSpPr>
        <p:spPr>
          <a:xfrm>
            <a:off x="7865806" y="3429000"/>
            <a:ext cx="234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0C15E7B-9A51-AE7D-6D78-9D1A0685DD49}"/>
              </a:ext>
            </a:extLst>
          </p:cNvPr>
          <p:cNvSpPr txBox="1"/>
          <p:nvPr/>
        </p:nvSpPr>
        <p:spPr>
          <a:xfrm rot="16200000">
            <a:off x="7341928" y="4183306"/>
            <a:ext cx="67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Ham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E573F8A-B616-9ABD-BB8C-AE97BA680136}"/>
              </a:ext>
            </a:extLst>
          </p:cNvPr>
          <p:cNvSpPr txBox="1"/>
          <p:nvPr/>
        </p:nvSpPr>
        <p:spPr>
          <a:xfrm rot="16200000">
            <a:off x="7239762" y="5364791"/>
            <a:ext cx="882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Spam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7B284EB-43CE-7030-BC1E-3206A56D3B46}"/>
              </a:ext>
            </a:extLst>
          </p:cNvPr>
          <p:cNvSpPr txBox="1"/>
          <p:nvPr/>
        </p:nvSpPr>
        <p:spPr>
          <a:xfrm>
            <a:off x="8073967" y="6291540"/>
            <a:ext cx="678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Ham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9407D37-779D-F2FD-9441-7F1BCFCBD30B}"/>
              </a:ext>
            </a:extLst>
          </p:cNvPr>
          <p:cNvSpPr txBox="1"/>
          <p:nvPr/>
        </p:nvSpPr>
        <p:spPr>
          <a:xfrm>
            <a:off x="9405270" y="6291540"/>
            <a:ext cx="882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Spam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5A9ACFC-65E1-51D6-BEFE-3A5101313281}"/>
              </a:ext>
            </a:extLst>
          </p:cNvPr>
          <p:cNvSpPr txBox="1"/>
          <p:nvPr/>
        </p:nvSpPr>
        <p:spPr>
          <a:xfrm>
            <a:off x="344129" y="3156153"/>
            <a:ext cx="3716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Modèle 1</a:t>
            </a:r>
          </a:p>
        </p:txBody>
      </p:sp>
    </p:spTree>
    <p:extLst>
      <p:ext uri="{BB962C8B-B14F-4D97-AF65-F5344CB8AC3E}">
        <p14:creationId xmlns:p14="http://schemas.microsoft.com/office/powerpoint/2010/main" val="3099416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B66E33-3129-5148-F815-A826FC1DC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4"/>
            <a:ext cx="10515600" cy="1325563"/>
          </a:xfrm>
        </p:spPr>
        <p:txBody>
          <a:bodyPr/>
          <a:lstStyle/>
          <a:p>
            <a:r>
              <a:rPr lang="fr-FR" dirty="0"/>
              <a:t>Modèle 2</a:t>
            </a:r>
          </a:p>
        </p:txBody>
      </p:sp>
      <p:pic>
        <p:nvPicPr>
          <p:cNvPr id="9" name="Espace réservé du contenu 8" descr="Une image contenant capture d’écran, texte, Rectangle, carré&#10;&#10;Le contenu généré par l’IA peut être incorrect.">
            <a:extLst>
              <a:ext uri="{FF2B5EF4-FFF2-40B4-BE49-F238E27FC236}">
                <a16:creationId xmlns:a16="http://schemas.microsoft.com/office/drawing/2014/main" id="{A14F90C1-332C-E0AE-2FE8-690146F00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549" y="2171603"/>
            <a:ext cx="5553477" cy="4547413"/>
          </a:xfr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370E68F-FAE6-9DD1-3C85-B2E3DCD33171}"/>
              </a:ext>
            </a:extLst>
          </p:cNvPr>
          <p:cNvSpPr txBox="1"/>
          <p:nvPr/>
        </p:nvSpPr>
        <p:spPr>
          <a:xfrm>
            <a:off x="7767484" y="1986937"/>
            <a:ext cx="3136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Validation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9CB3558-2718-252C-71D9-5E678B265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0570"/>
            <a:ext cx="5633884" cy="4478548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9157B3CD-0B54-8304-D97B-6F6C2BECC8AF}"/>
              </a:ext>
            </a:extLst>
          </p:cNvPr>
          <p:cNvSpPr txBox="1"/>
          <p:nvPr/>
        </p:nvSpPr>
        <p:spPr>
          <a:xfrm>
            <a:off x="943897" y="2001949"/>
            <a:ext cx="3480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Entrainement</a:t>
            </a:r>
          </a:p>
        </p:txBody>
      </p:sp>
    </p:spTree>
    <p:extLst>
      <p:ext uri="{BB962C8B-B14F-4D97-AF65-F5344CB8AC3E}">
        <p14:creationId xmlns:p14="http://schemas.microsoft.com/office/powerpoint/2010/main" val="3276501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6E553-4B5A-251A-656B-2A0149C2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</a:t>
            </a:r>
          </a:p>
        </p:txBody>
      </p:sp>
      <p:pic>
        <p:nvPicPr>
          <p:cNvPr id="5" name="Espace réservé du contenu 4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201EB252-4602-8825-AC38-B93F8ADB7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8757" y="2172238"/>
            <a:ext cx="7954485" cy="3658111"/>
          </a:xfrm>
        </p:spPr>
      </p:pic>
    </p:spTree>
    <p:extLst>
      <p:ext uri="{BB962C8B-B14F-4D97-AF65-F5344CB8AC3E}">
        <p14:creationId xmlns:p14="http://schemas.microsoft.com/office/powerpoint/2010/main" val="4268054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BF70E7-378B-B8C9-ED19-70651AF61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Transfer Learning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D175C6E-0B47-1CBF-A11B-EFE4F10A21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291" y="1515072"/>
            <a:ext cx="4780830" cy="1081481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D976354-CA20-08A9-D8B4-6C41BAEF5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406" y="0"/>
            <a:ext cx="6572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661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8A67CD-96A0-B3EF-996A-B0F12FC9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 sur le set de validation</a:t>
            </a:r>
          </a:p>
        </p:txBody>
      </p:sp>
      <p:pic>
        <p:nvPicPr>
          <p:cNvPr id="5" name="Espace réservé du contenu 4" descr="Une image contenant capture d’écran, texte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1711B042-F64B-4FD9-C4B2-D430F280F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9" y="1402119"/>
            <a:ext cx="5997677" cy="5114503"/>
          </a:xfrm>
        </p:spPr>
      </p:pic>
    </p:spTree>
    <p:extLst>
      <p:ext uri="{BB962C8B-B14F-4D97-AF65-F5344CB8AC3E}">
        <p14:creationId xmlns:p14="http://schemas.microsoft.com/office/powerpoint/2010/main" val="3722808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F724C5-AD2E-4E1E-125F-13CACEDE2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7998"/>
            <a:ext cx="10515600" cy="1325563"/>
          </a:xfrm>
        </p:spPr>
        <p:txBody>
          <a:bodyPr/>
          <a:lstStyle/>
          <a:p>
            <a:r>
              <a:rPr lang="fr-FR" dirty="0"/>
              <a:t>Conclusion</a:t>
            </a:r>
          </a:p>
        </p:txBody>
      </p:sp>
      <p:pic>
        <p:nvPicPr>
          <p:cNvPr id="5" name="Espace réservé du contenu 4" descr="Une image contenant texte, logiciel, capture d’écran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85C8C35B-70A3-5012-3EE6-ED1D3059C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38" y="904107"/>
            <a:ext cx="11982888" cy="2438860"/>
          </a:xfr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D32A4B6-80D9-3841-023D-C4445029FA18}"/>
              </a:ext>
            </a:extLst>
          </p:cNvPr>
          <p:cNvSpPr txBox="1"/>
          <p:nvPr/>
        </p:nvSpPr>
        <p:spPr>
          <a:xfrm>
            <a:off x="314631" y="3362632"/>
            <a:ext cx="11375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modèle pré-entrainé est bien plus vorace en capacités de calcul, et en temps, pour des résultats sensiblement identiques.</a:t>
            </a:r>
          </a:p>
        </p:txBody>
      </p:sp>
      <p:pic>
        <p:nvPicPr>
          <p:cNvPr id="8" name="Image 7" descr="Une image contenant capture d’écran, texte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204A15DE-653D-BAF2-C13E-4B19B5DF5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615" y="3704303"/>
            <a:ext cx="3577212" cy="3050458"/>
          </a:xfrm>
          <a:prstGeom prst="rect">
            <a:avLst/>
          </a:prstGeom>
        </p:spPr>
      </p:pic>
      <p:pic>
        <p:nvPicPr>
          <p:cNvPr id="10" name="Image 9" descr="Une image contenant capture d’écran, texte, Rectangle, carré&#10;&#10;Le contenu généré par l’IA peut être incorrect.">
            <a:extLst>
              <a:ext uri="{FF2B5EF4-FFF2-40B4-BE49-F238E27FC236}">
                <a16:creationId xmlns:a16="http://schemas.microsoft.com/office/drawing/2014/main" id="{8ABF876C-0ECE-6C6C-A34F-0FE61315F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425" y="3704303"/>
            <a:ext cx="3725337" cy="305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5298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290</Words>
  <Application>Microsoft Office PowerPoint</Application>
  <PresentationFormat>Grand écran</PresentationFormat>
  <Paragraphs>41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Bloc 4 : Deep Learning</vt:lpstr>
      <vt:lpstr>Projet :</vt:lpstr>
      <vt:lpstr>Présentation PowerPoint</vt:lpstr>
      <vt:lpstr>Présentation PowerPoint</vt:lpstr>
      <vt:lpstr>Modèle 2</vt:lpstr>
      <vt:lpstr>Résultats</vt:lpstr>
      <vt:lpstr>Transfer Learning</vt:lpstr>
      <vt:lpstr>Résultats sur le set de validation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Oger</dc:creator>
  <cp:lastModifiedBy>Antoine Oger</cp:lastModifiedBy>
  <cp:revision>2</cp:revision>
  <dcterms:created xsi:type="dcterms:W3CDTF">2025-12-11T16:41:21Z</dcterms:created>
  <dcterms:modified xsi:type="dcterms:W3CDTF">2025-12-11T17:37:25Z</dcterms:modified>
</cp:coreProperties>
</file>